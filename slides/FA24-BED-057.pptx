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7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9C46A"/>
                </a:solidFill>
                <a:latin typeface="Aptos"/>
              </a:defRPr>
            </a:pPr>
            <a:r>
              <a:t>ECO346  |  ASSIGNMENT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10058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Visualizing annual</a:t>
            </a:r>
          </a:p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earnings in urban Punjab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37033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D7E0E6"/>
                </a:solidFill>
                <a:latin typeface="Aptos"/>
              </a:defRPr>
            </a:pPr>
            <a:r>
              <a:t>Data Visualization Techniques for Economists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4343400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9C46A"/>
                </a:solidFill>
                <a:latin typeface="Aptos"/>
              </a:defRPr>
            </a:pPr>
            <a:r>
              <a:t>Registration: FA24-BED-057  •  Variant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48920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D7E0E6"/>
                </a:solidFill>
                <a:latin typeface="Aptos"/>
              </a:defRPr>
            </a:pPr>
            <a:r>
              <a:t>PSLM person and household subsets | weighted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9509760" y="5715000"/>
            <a:ext cx="310896" cy="65836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12680" y="5715000"/>
            <a:ext cx="310896" cy="859536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5600" y="5715000"/>
            <a:ext cx="310896" cy="1060704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37960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5636E"/>
                </a:solidFill>
                <a:latin typeface="Aptos"/>
              </a:defRPr>
            </a:pPr>
            <a:r>
              <a:t>ECO346  •  FA24-BED-057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5636E"/>
                </a:solidFill>
                <a:latin typeface="Aptos"/>
              </a:defRPr>
            </a:pPr>
            <a: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A9D8F"/>
                </a:solidFill>
                <a:latin typeface="Aptos"/>
              </a:defRPr>
            </a:pPr>
            <a:r>
              <a:t>01 /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63746"/>
                </a:solidFill>
                <a:latin typeface="Aptos"/>
              </a:defRPr>
            </a:pPr>
            <a:r>
              <a:t>Earnings differ substantially across the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618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5636E"/>
                </a:solidFill>
                <a:latin typeface="Aptos"/>
              </a:defRPr>
            </a:pPr>
            <a:r>
              <a:t>Weighted percentiles describe the retained sample; the histogram uses 0.1 log10-unit bins.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64208"/>
            <a:ext cx="11155680" cy="32004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q2_weighted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10512"/>
            <a:ext cx="7726679" cy="444644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12480" y="2011680"/>
            <a:ext cx="3246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214884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5636E"/>
                </a:solidFill>
                <a:latin typeface="Aptos"/>
              </a:defRPr>
            </a:pPr>
            <a:r>
              <a:t>SAMPLE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1080" y="242316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63746"/>
                </a:solidFill>
                <a:latin typeface="Aptos"/>
              </a:defRPr>
            </a:pPr>
            <a:r>
              <a:t>3,768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3246120"/>
            <a:ext cx="3246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41080" y="338328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5636E"/>
                </a:solidFill>
                <a:latin typeface="Aptos"/>
              </a:defRPr>
            </a:pPr>
            <a:r>
              <a:t>WEIGHTED MEDIAN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41080" y="365760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63746"/>
                </a:solidFill>
                <a:latin typeface="Aptos"/>
              </a:defRPr>
            </a:pPr>
            <a:r>
              <a:t>PKR 240,000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4480560"/>
            <a:ext cx="32461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E9C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461772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55636E"/>
                </a:solidFill>
                <a:latin typeface="Aptos"/>
              </a:defRPr>
            </a:pPr>
            <a:r>
              <a:t>P90 / P10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48920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63746"/>
                </a:solidFill>
                <a:latin typeface="Aptos"/>
              </a:defRPr>
            </a:pPr>
            <a:r>
              <a:t>6.88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5623560"/>
            <a:ext cx="3108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263746"/>
                </a:solidFill>
                <a:latin typeface="Aptos"/>
              </a:defRPr>
            </a:pPr>
            <a:r>
              <a:t>Weighted p10: PKR 96,000</a:t>
            </a:r>
          </a:p>
          <a:p>
            <a:pPr>
              <a:defRPr sz="1100" b="0">
                <a:solidFill>
                  <a:srgbClr val="263746"/>
                </a:solidFill>
                <a:latin typeface="Aptos"/>
              </a:defRPr>
            </a:pPr>
            <a:r>
              <a:t>Weighted p90: PKR 660,000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37960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5636E"/>
                </a:solidFill>
                <a:latin typeface="Aptos"/>
              </a:defRPr>
            </a:pPr>
            <a:r>
              <a:t>ECO346  •  FA24-BED-057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5636E"/>
                </a:solidFill>
                <a:latin typeface="Aptos"/>
              </a:defRPr>
            </a:pPr>
            <a: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A9D8F"/>
                </a:solidFill>
                <a:latin typeface="Aptos"/>
              </a:defRPr>
            </a:pPr>
            <a:r>
              <a:t>02 / AGE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836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63746"/>
                </a:solidFill>
                <a:latin typeface="Aptos"/>
              </a:defRPr>
            </a:pPr>
            <a:r>
              <a:t>Mean earnings peak in the 55–59 age band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2618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5636E"/>
                </a:solidFill>
                <a:latin typeface="Aptos"/>
              </a:defRPr>
            </a:pPr>
            <a:r>
              <a:t>Points show individual records; the coral curve connects household-weighted five-year means.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664208"/>
            <a:ext cx="11155680" cy="32004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q3_earnings_by_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7909560" cy="4874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32520" y="21488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A9D8F"/>
                </a:solidFill>
                <a:latin typeface="Aptos"/>
              </a:defRPr>
            </a:pPr>
            <a:r>
              <a:t>AGE 25–29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24688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63746"/>
                </a:solidFill>
                <a:latin typeface="Aptos"/>
              </a:defRPr>
            </a:pPr>
            <a:r>
              <a:t>PKR 320,776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33832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A9D8F"/>
                </a:solidFill>
                <a:latin typeface="Aptos"/>
              </a:defRPr>
            </a:pPr>
            <a:r>
              <a:t>AGE 45–49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3703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63746"/>
                </a:solidFill>
                <a:latin typeface="Aptos"/>
              </a:defRPr>
            </a:pPr>
            <a:r>
              <a:t>PKR 465,073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46634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07A5F"/>
                </a:solidFill>
                <a:latin typeface="Aptos"/>
              </a:defRPr>
            </a:pPr>
            <a:r>
              <a:t>HIGHEST BAND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983480"/>
            <a:ext cx="2743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3746"/>
                </a:solidFill>
                <a:latin typeface="Aptos"/>
              </a:defRPr>
            </a:pPr>
            <a:r>
              <a:t>55-59</a:t>
            </a:r>
          </a:p>
          <a:p>
            <a:pPr>
              <a:defRPr sz="1700" b="1">
                <a:solidFill>
                  <a:srgbClr val="263746"/>
                </a:solidFill>
                <a:latin typeface="Aptos"/>
              </a:defRPr>
            </a:pPr>
            <a:r>
              <a:t>PKR 523,751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37960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5636E"/>
                </a:solidFill>
                <a:latin typeface="Aptos"/>
              </a:defRPr>
            </a:pPr>
            <a:r>
              <a:t>ECO346  •  FA24-BED-057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5636E"/>
                </a:solidFill>
                <a:latin typeface="Aptos"/>
              </a:defRPr>
            </a:pPr>
            <a: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7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E9C46A"/>
                </a:solidFill>
                <a:latin typeface="Aptos"/>
              </a:defRPr>
            </a:pPr>
            <a:r>
              <a:t>03 /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"/>
              </a:defRPr>
            </a:pPr>
            <a:r>
              <a:t>How to read these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45920"/>
            <a:ext cx="3429000" cy="3200400"/>
          </a:xfrm>
          <a:prstGeom prst="roundRect">
            <a:avLst/>
          </a:prstGeom>
          <a:solidFill>
            <a:srgbClr val="304452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965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A9D8F"/>
                </a:solidFill>
                <a:latin typeface="Aptos"/>
              </a:defRPr>
            </a:pPr>
            <a:r>
              <a:t>DISTRIBUTION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450592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The p90 threshold is 6.88 times the p10 threshold. The middle of the sample sits at PKR 240,000.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645920"/>
            <a:ext cx="3429000" cy="3200400"/>
          </a:xfrm>
          <a:prstGeom prst="roundRect">
            <a:avLst/>
          </a:prstGeom>
          <a:solidFill>
            <a:srgbClr val="304452"/>
          </a:solidFill>
          <a:ln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1965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07A5F"/>
                </a:solidFill>
                <a:latin typeface="Aptos"/>
              </a:defRPr>
            </a:pPr>
            <a:r>
              <a:t>AGE 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0872" y="2450592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Weighted means generally rise with age, but not in a straight line. The scatter shows considerable variation within each age group.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645920"/>
            <a:ext cx="3429000" cy="3200400"/>
          </a:xfrm>
          <a:prstGeom prst="roundRect">
            <a:avLst/>
          </a:prstGeom>
          <a:solidFill>
            <a:srgbClr val="304452"/>
          </a:solidFill>
          <a:ln>
            <a:solidFill>
              <a:srgbClr val="E9C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31352" y="1965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9C46A"/>
                </a:solidFill>
                <a:latin typeface="Aptos"/>
              </a:defRPr>
            </a:pPr>
            <a:r>
              <a:t>METHOD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1352" y="2450592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R and Python should use the same retained rows and household weights. Compare full-precision table outputs before reporting agreement.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532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D7E0E6"/>
                </a:solidFill>
                <a:latin typeface="Aptos"/>
              </a:defRPr>
            </a:pPr>
            <a:r>
              <a:t>Sample: urban Punjab • ages 15–64 • positive annual earnings • hhweight used for weighting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37960"/>
            <a:ext cx="5486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55636E"/>
                </a:solidFill>
                <a:latin typeface="Aptos"/>
              </a:defRPr>
            </a:pPr>
            <a:r>
              <a:t>ECO346  •  FA24-BED-057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19672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5636E"/>
                </a:solidFill>
                <a:latin typeface="Aptos"/>
              </a:defRPr>
            </a:pPr>
            <a: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